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A685A-C59A-4689-97CC-CD42CE275D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8B8F42-5170-4722-A03C-5B562BC79A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E25FBE-DDEA-4497-AC74-7E681CB51A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FA477-CE71-4081-9D6B-14053F0CC7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875758-E8E5-4387-A131-2FBA687104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5F4E3-33F7-4238-A52B-CDCD68E3D8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AFFD6-9D37-4115-A73B-0715EF331B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00E0C-F85C-4092-8C80-7807F613EA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79069E-7104-47BF-B6EA-762650AAF3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517D4C-5865-405D-B437-304979D4E2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CE95D-B293-4782-A8C2-F76B670586F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137C52-B5DD-4A24-8AE2-95FBF826D9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5B41A94-625C-4CFA-9590-6DC5CAA512C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44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45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8adbd2"/>
                </a:solidFill>
                <a:latin typeface="Arial"/>
              </a:rPr>
              <a:t>RESEARCH DISCUSSION</a:t>
            </a:r>
            <a:endParaRPr b="1" lang="en-US" sz="1500" spc="-1" strike="noStrike">
              <a:solidFill>
                <a:srgbClr val="8adbd2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bbc9d5"/>
                </a:solidFill>
                <a:latin typeface="Arial"/>
              </a:rPr>
              <a:t>01</a:t>
            </a:r>
            <a:endParaRPr b="0" lang="en-US" sz="1200" spc="-1" strike="noStrike">
              <a:solidFill>
                <a:srgbClr val="bbc9d5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Anticipating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numeric conflicts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bdd0df"/>
                </a:solidFill>
                <a:latin typeface="Arial"/>
              </a:rPr>
              <a:t>Fast planning under resource constraints</a:t>
            </a:r>
            <a:endParaRPr b="0" lang="en-US" sz="2700" spc="-1" strike="noStrike">
              <a:solidFill>
                <a:srgbClr val="bdd0d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720000" y="5940000"/>
            <a:ext cx="7920000" cy="22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00" spc="-1" strike="noStrike">
                <a:solidFill>
                  <a:srgbClr val="bdd0df"/>
                </a:solidFill>
                <a:latin typeface="Arial"/>
              </a:rPr>
              <a:t>Changmin Park  /  Research discussion  /  September 2026</a:t>
            </a:r>
            <a:endParaRPr b="0" lang="en-US" sz="1600" spc="-1" strike="noStrike">
              <a:solidFill>
                <a:srgbClr val="bdd0d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51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52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MOTIVATION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02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Robots need useful plans.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Quickly.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64748b"/>
                </a:solidFill>
                <a:latin typeface="Arial"/>
              </a:rPr>
              <a:t>Planning time is part of the task.</a:t>
            </a:r>
            <a:endParaRPr b="0" lang="en-US" sz="27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57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58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THE TRADE-OFF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03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20000" y="1404000"/>
            <a:ext cx="10728000" cy="10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Fast guidance can miss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resource interactions.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20000" y="2772000"/>
            <a:ext cx="4320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62" name=""/>
          <p:cNvSpPr txBox="1"/>
          <p:nvPr/>
        </p:nvSpPr>
        <p:spPr>
          <a:xfrm>
            <a:off x="784800" y="285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Planner / heuristic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040000" y="2772000"/>
            <a:ext cx="1656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64" name=""/>
          <p:cNvSpPr txBox="1"/>
          <p:nvPr/>
        </p:nvSpPr>
        <p:spPr>
          <a:xfrm>
            <a:off x="5104800" y="285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Valid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696000" y="2772000"/>
            <a:ext cx="2268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66" name=""/>
          <p:cNvSpPr txBox="1"/>
          <p:nvPr/>
        </p:nvSpPr>
        <p:spPr>
          <a:xfrm>
            <a:off x="6760800" y="285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Total time (s)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964000" y="2772000"/>
            <a:ext cx="2484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68" name=""/>
          <p:cNvSpPr txBox="1"/>
          <p:nvPr/>
        </p:nvSpPr>
        <p:spPr>
          <a:xfrm>
            <a:off x="9028800" y="285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Objective gap*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20000" y="3132000"/>
            <a:ext cx="432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70" name=""/>
          <p:cNvSpPr txBox="1"/>
          <p:nvPr/>
        </p:nvSpPr>
        <p:spPr>
          <a:xfrm>
            <a:off x="784800" y="321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Metric-FF / numeric-hff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040000" y="3132000"/>
            <a:ext cx="165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72" name=""/>
          <p:cNvSpPr txBox="1"/>
          <p:nvPr/>
        </p:nvSpPr>
        <p:spPr>
          <a:xfrm>
            <a:off x="5104800" y="321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30/30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6696000" y="313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74" name=""/>
          <p:cNvSpPr txBox="1"/>
          <p:nvPr/>
        </p:nvSpPr>
        <p:spPr>
          <a:xfrm>
            <a:off x="6760800" y="321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8.6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964000" y="3132000"/>
            <a:ext cx="248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76" name=""/>
          <p:cNvSpPr txBox="1"/>
          <p:nvPr/>
        </p:nvSpPr>
        <p:spPr>
          <a:xfrm>
            <a:off x="9028800" y="321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8.2%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20000" y="3492000"/>
            <a:ext cx="4320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78" name=""/>
          <p:cNvSpPr txBox="1"/>
          <p:nvPr/>
        </p:nvSpPr>
        <p:spPr>
          <a:xfrm>
            <a:off x="784800" y="357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Panino / hadd-novelty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040000" y="3492000"/>
            <a:ext cx="165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80" name=""/>
          <p:cNvSpPr txBox="1"/>
          <p:nvPr/>
        </p:nvSpPr>
        <p:spPr>
          <a:xfrm>
            <a:off x="5104800" y="357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30/30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696000" y="349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82" name=""/>
          <p:cNvSpPr txBox="1"/>
          <p:nvPr/>
        </p:nvSpPr>
        <p:spPr>
          <a:xfrm>
            <a:off x="6760800" y="357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397.8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964000" y="3492000"/>
            <a:ext cx="248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84" name=""/>
          <p:cNvSpPr txBox="1"/>
          <p:nvPr/>
        </p:nvSpPr>
        <p:spPr>
          <a:xfrm>
            <a:off x="9028800" y="357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35.0%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20000" y="3852000"/>
            <a:ext cx="432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86" name=""/>
          <p:cNvSpPr txBox="1"/>
          <p:nvPr/>
        </p:nvSpPr>
        <p:spPr>
          <a:xfrm>
            <a:off x="784800" y="393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Count Downward / irhff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040000" y="3852000"/>
            <a:ext cx="165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88" name=""/>
          <p:cNvSpPr txBox="1"/>
          <p:nvPr/>
        </p:nvSpPr>
        <p:spPr>
          <a:xfrm>
            <a:off x="5104800" y="393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28/30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696000" y="385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90" name=""/>
          <p:cNvSpPr txBox="1"/>
          <p:nvPr/>
        </p:nvSpPr>
        <p:spPr>
          <a:xfrm>
            <a:off x="6760800" y="393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626.8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8964000" y="3852000"/>
            <a:ext cx="248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92" name=""/>
          <p:cNvSpPr txBox="1"/>
          <p:nvPr/>
        </p:nvSpPr>
        <p:spPr>
          <a:xfrm>
            <a:off x="9028800" y="393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18.1%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20000" y="4212000"/>
            <a:ext cx="4320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94" name=""/>
          <p:cNvSpPr txBox="1"/>
          <p:nvPr/>
        </p:nvSpPr>
        <p:spPr>
          <a:xfrm>
            <a:off x="784800" y="429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NFD / irhadd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040000" y="4212000"/>
            <a:ext cx="165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96" name=""/>
          <p:cNvSpPr txBox="1"/>
          <p:nvPr/>
        </p:nvSpPr>
        <p:spPr>
          <a:xfrm>
            <a:off x="5104800" y="429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27/30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696000" y="421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98" name=""/>
          <p:cNvSpPr txBox="1"/>
          <p:nvPr/>
        </p:nvSpPr>
        <p:spPr>
          <a:xfrm>
            <a:off x="6760800" y="429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1,407.7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964000" y="4212000"/>
            <a:ext cx="248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00" name=""/>
          <p:cNvSpPr txBox="1"/>
          <p:nvPr/>
        </p:nvSpPr>
        <p:spPr>
          <a:xfrm>
            <a:off x="9028800" y="429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7.2%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20000" y="4572000"/>
            <a:ext cx="432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02" name=""/>
          <p:cNvSpPr txBox="1"/>
          <p:nvPr/>
        </p:nvSpPr>
        <p:spPr>
          <a:xfrm>
            <a:off x="784800" y="465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ENHSP / 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5040000" y="4572000"/>
            <a:ext cx="165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04" name=""/>
          <p:cNvSpPr txBox="1"/>
          <p:nvPr/>
        </p:nvSpPr>
        <p:spPr>
          <a:xfrm>
            <a:off x="5104800" y="465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25/30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696000" y="457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06" name=""/>
          <p:cNvSpPr txBox="1"/>
          <p:nvPr/>
        </p:nvSpPr>
        <p:spPr>
          <a:xfrm>
            <a:off x="6760800" y="465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1,731.2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964000" y="4572000"/>
            <a:ext cx="248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08" name=""/>
          <p:cNvSpPr txBox="1"/>
          <p:nvPr/>
        </p:nvSpPr>
        <p:spPr>
          <a:xfrm>
            <a:off x="9028800" y="465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5.8%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20000" y="4932000"/>
            <a:ext cx="4320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10" name=""/>
          <p:cNvSpPr txBox="1"/>
          <p:nvPr/>
        </p:nvSpPr>
        <p:spPr>
          <a:xfrm>
            <a:off x="784800" y="5011200"/>
            <a:ext cx="419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ENHSP / hradd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5040000" y="4932000"/>
            <a:ext cx="165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12" name=""/>
          <p:cNvSpPr txBox="1"/>
          <p:nvPr/>
        </p:nvSpPr>
        <p:spPr>
          <a:xfrm>
            <a:off x="5104800" y="5011200"/>
            <a:ext cx="152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25/30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696000" y="493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14" name=""/>
          <p:cNvSpPr txBox="1"/>
          <p:nvPr/>
        </p:nvSpPr>
        <p:spPr>
          <a:xfrm>
            <a:off x="6760800" y="501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1,596.1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8964000" y="4932000"/>
            <a:ext cx="248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16" name=""/>
          <p:cNvSpPr txBox="1"/>
          <p:nvPr/>
        </p:nvSpPr>
        <p:spPr>
          <a:xfrm>
            <a:off x="9028800" y="5011200"/>
            <a:ext cx="23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12.0%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20000" y="5436000"/>
            <a:ext cx="1072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64748b"/>
                </a:solidFill>
                <a:latin typeface="Arial"/>
              </a:rPr>
              <a:t>*Median excess over observed best, on solved tasks; solved sets differ. Total time includes timeouts.</a:t>
            </a:r>
            <a:endParaRPr b="0" lang="en-US" sz="13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[1] Hoffmann, 2003 · [2] Coles et al., 2008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120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121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PROBLEM STRUCTURE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04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720000" y="1404000"/>
            <a:ext cx="10728000" cy="10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A domain name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is not a difficulty model.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20000" y="2772000"/>
            <a:ext cx="3240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125" name=""/>
          <p:cNvSpPr txBox="1"/>
          <p:nvPr/>
        </p:nvSpPr>
        <p:spPr>
          <a:xfrm>
            <a:off x="784800" y="285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Domain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3960000" y="2772000"/>
            <a:ext cx="14976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127" name=""/>
          <p:cNvSpPr txBox="1"/>
          <p:nvPr/>
        </p:nvSpPr>
        <p:spPr>
          <a:xfrm>
            <a:off x="4024800" y="28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p000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457600" y="2772000"/>
            <a:ext cx="14976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129" name=""/>
          <p:cNvSpPr txBox="1"/>
          <p:nvPr/>
        </p:nvSpPr>
        <p:spPr>
          <a:xfrm>
            <a:off x="5522400" y="28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p001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955200" y="2772000"/>
            <a:ext cx="14976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131" name=""/>
          <p:cNvSpPr txBox="1"/>
          <p:nvPr/>
        </p:nvSpPr>
        <p:spPr>
          <a:xfrm>
            <a:off x="7020000" y="28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p002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452800" y="2772000"/>
            <a:ext cx="14976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133" name=""/>
          <p:cNvSpPr txBox="1"/>
          <p:nvPr/>
        </p:nvSpPr>
        <p:spPr>
          <a:xfrm>
            <a:off x="8517600" y="28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p003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9950400" y="2772000"/>
            <a:ext cx="14976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135" name=""/>
          <p:cNvSpPr txBox="1"/>
          <p:nvPr/>
        </p:nvSpPr>
        <p:spPr>
          <a:xfrm>
            <a:off x="10015200" y="28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p004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20000" y="3132000"/>
            <a:ext cx="324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37" name=""/>
          <p:cNvSpPr txBox="1"/>
          <p:nvPr/>
        </p:nvSpPr>
        <p:spPr>
          <a:xfrm>
            <a:off x="784800" y="321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Blocksworld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960000" y="313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39" name=""/>
          <p:cNvSpPr txBox="1"/>
          <p:nvPr/>
        </p:nvSpPr>
        <p:spPr>
          <a:xfrm>
            <a:off x="4024800" y="32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97.7%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5457600" y="313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41" name=""/>
          <p:cNvSpPr txBox="1"/>
          <p:nvPr/>
        </p:nvSpPr>
        <p:spPr>
          <a:xfrm>
            <a:off x="5522400" y="32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95.3%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955200" y="313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43" name=""/>
          <p:cNvSpPr txBox="1"/>
          <p:nvPr/>
        </p:nvSpPr>
        <p:spPr>
          <a:xfrm>
            <a:off x="7020000" y="32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88.4%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8452800" y="313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45" name=""/>
          <p:cNvSpPr txBox="1"/>
          <p:nvPr/>
        </p:nvSpPr>
        <p:spPr>
          <a:xfrm>
            <a:off x="8517600" y="32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83.7%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950400" y="313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47" name=""/>
          <p:cNvSpPr txBox="1"/>
          <p:nvPr/>
        </p:nvSpPr>
        <p:spPr>
          <a:xfrm>
            <a:off x="10015200" y="32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81.4%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720000" y="3492000"/>
            <a:ext cx="3240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49" name=""/>
          <p:cNvSpPr txBox="1"/>
          <p:nvPr/>
        </p:nvSpPr>
        <p:spPr>
          <a:xfrm>
            <a:off x="784800" y="357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Logistics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960000" y="349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51" name=""/>
          <p:cNvSpPr txBox="1"/>
          <p:nvPr/>
        </p:nvSpPr>
        <p:spPr>
          <a:xfrm>
            <a:off x="4024800" y="357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95.3%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457600" y="349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53" name=""/>
          <p:cNvSpPr txBox="1"/>
          <p:nvPr/>
        </p:nvSpPr>
        <p:spPr>
          <a:xfrm>
            <a:off x="5522400" y="357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62.8%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955200" y="349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55" name=""/>
          <p:cNvSpPr txBox="1"/>
          <p:nvPr/>
        </p:nvSpPr>
        <p:spPr>
          <a:xfrm>
            <a:off x="7020000" y="357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32.6%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8452800" y="349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57" name=""/>
          <p:cNvSpPr txBox="1"/>
          <p:nvPr/>
        </p:nvSpPr>
        <p:spPr>
          <a:xfrm>
            <a:off x="8517600" y="357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18.6%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9950400" y="349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59" name=""/>
          <p:cNvSpPr txBox="1"/>
          <p:nvPr/>
        </p:nvSpPr>
        <p:spPr>
          <a:xfrm>
            <a:off x="10015200" y="357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16.3%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720000" y="3852000"/>
            <a:ext cx="324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61" name=""/>
          <p:cNvSpPr txBox="1"/>
          <p:nvPr/>
        </p:nvSpPr>
        <p:spPr>
          <a:xfrm>
            <a:off x="784800" y="393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Books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3960000" y="385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63" name=""/>
          <p:cNvSpPr txBox="1"/>
          <p:nvPr/>
        </p:nvSpPr>
        <p:spPr>
          <a:xfrm>
            <a:off x="4024800" y="393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93.3%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457600" y="385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65" name=""/>
          <p:cNvSpPr txBox="1"/>
          <p:nvPr/>
        </p:nvSpPr>
        <p:spPr>
          <a:xfrm>
            <a:off x="5522400" y="393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75.6%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955200" y="385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67" name=""/>
          <p:cNvSpPr txBox="1"/>
          <p:nvPr/>
        </p:nvSpPr>
        <p:spPr>
          <a:xfrm>
            <a:off x="7020000" y="393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44.4%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8452800" y="385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69" name=""/>
          <p:cNvSpPr txBox="1"/>
          <p:nvPr/>
        </p:nvSpPr>
        <p:spPr>
          <a:xfrm>
            <a:off x="8517600" y="393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17.8%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9950400" y="385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71" name=""/>
          <p:cNvSpPr txBox="1"/>
          <p:nvPr/>
        </p:nvSpPr>
        <p:spPr>
          <a:xfrm>
            <a:off x="10015200" y="393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15.6%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20000" y="4212000"/>
            <a:ext cx="3240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73" name=""/>
          <p:cNvSpPr txBox="1"/>
          <p:nvPr/>
        </p:nvSpPr>
        <p:spPr>
          <a:xfrm>
            <a:off x="784800" y="429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Watering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3960000" y="421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75" name=""/>
          <p:cNvSpPr txBox="1"/>
          <p:nvPr/>
        </p:nvSpPr>
        <p:spPr>
          <a:xfrm>
            <a:off x="4024800" y="429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91.1%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5457600" y="421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77" name=""/>
          <p:cNvSpPr txBox="1"/>
          <p:nvPr/>
        </p:nvSpPr>
        <p:spPr>
          <a:xfrm>
            <a:off x="5522400" y="429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60.0%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955200" y="421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79" name=""/>
          <p:cNvSpPr txBox="1"/>
          <p:nvPr/>
        </p:nvSpPr>
        <p:spPr>
          <a:xfrm>
            <a:off x="7020000" y="429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53.3%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8452800" y="421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81" name=""/>
          <p:cNvSpPr txBox="1"/>
          <p:nvPr/>
        </p:nvSpPr>
        <p:spPr>
          <a:xfrm>
            <a:off x="8517600" y="429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40.0%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9950400" y="421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83" name=""/>
          <p:cNvSpPr txBox="1"/>
          <p:nvPr/>
        </p:nvSpPr>
        <p:spPr>
          <a:xfrm>
            <a:off x="10015200" y="429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11.1%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720000" y="4572000"/>
            <a:ext cx="324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85" name=""/>
          <p:cNvSpPr txBox="1"/>
          <p:nvPr/>
        </p:nvSpPr>
        <p:spPr>
          <a:xfrm>
            <a:off x="784800" y="465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Barman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960000" y="457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87" name=""/>
          <p:cNvSpPr txBox="1"/>
          <p:nvPr/>
        </p:nvSpPr>
        <p:spPr>
          <a:xfrm>
            <a:off x="4024800" y="46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78.4%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5457600" y="457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89" name=""/>
          <p:cNvSpPr txBox="1"/>
          <p:nvPr/>
        </p:nvSpPr>
        <p:spPr>
          <a:xfrm>
            <a:off x="5522400" y="46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32.4%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955200" y="457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91" name=""/>
          <p:cNvSpPr txBox="1"/>
          <p:nvPr/>
        </p:nvSpPr>
        <p:spPr>
          <a:xfrm>
            <a:off x="7020000" y="46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8.1%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8452800" y="457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93" name=""/>
          <p:cNvSpPr txBox="1"/>
          <p:nvPr/>
        </p:nvSpPr>
        <p:spPr>
          <a:xfrm>
            <a:off x="8517600" y="46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10.8%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9950400" y="4572000"/>
            <a:ext cx="14976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195" name=""/>
          <p:cNvSpPr txBox="1"/>
          <p:nvPr/>
        </p:nvSpPr>
        <p:spPr>
          <a:xfrm>
            <a:off x="10015200" y="465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8.1%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720000" y="4932000"/>
            <a:ext cx="3240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97" name=""/>
          <p:cNvSpPr txBox="1"/>
          <p:nvPr/>
        </p:nvSpPr>
        <p:spPr>
          <a:xfrm>
            <a:off x="784800" y="5011200"/>
            <a:ext cx="3110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Assembly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960000" y="493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199" name=""/>
          <p:cNvSpPr txBox="1"/>
          <p:nvPr/>
        </p:nvSpPr>
        <p:spPr>
          <a:xfrm>
            <a:off x="4024800" y="50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93.3%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5457600" y="493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01" name=""/>
          <p:cNvSpPr txBox="1"/>
          <p:nvPr/>
        </p:nvSpPr>
        <p:spPr>
          <a:xfrm>
            <a:off x="5522400" y="50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73.3%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6955200" y="493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03" name=""/>
          <p:cNvSpPr txBox="1"/>
          <p:nvPr/>
        </p:nvSpPr>
        <p:spPr>
          <a:xfrm>
            <a:off x="7020000" y="50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66.7%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8452800" y="493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05" name=""/>
          <p:cNvSpPr txBox="1"/>
          <p:nvPr/>
        </p:nvSpPr>
        <p:spPr>
          <a:xfrm>
            <a:off x="8517600" y="50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51.1%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9950400" y="4932000"/>
            <a:ext cx="14976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07" name=""/>
          <p:cNvSpPr txBox="1"/>
          <p:nvPr/>
        </p:nvSpPr>
        <p:spPr>
          <a:xfrm>
            <a:off x="10015200" y="5011200"/>
            <a:ext cx="13680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22.2%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720000" y="5436000"/>
            <a:ext cx="1072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64748b"/>
                </a:solidFill>
                <a:latin typeface="Arial"/>
              </a:rPr>
              <a:t>VAL-valid rate across tested configurations; technical incompatibilities excluded.</a:t>
            </a:r>
            <a:endParaRPr b="0" lang="en-US" sz="13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Discussion informed by our benchmark and resource-control experiments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211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212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CONSTRAINTS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05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20000" y="1404000"/>
            <a:ext cx="10728000" cy="10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Tighter constraints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can help search.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20000" y="2772000"/>
            <a:ext cx="6192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216" name=""/>
          <p:cNvSpPr txBox="1"/>
          <p:nvPr/>
        </p:nvSpPr>
        <p:spPr>
          <a:xfrm>
            <a:off x="784800" y="2851200"/>
            <a:ext cx="606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Logistics / configuration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912000" y="2772000"/>
            <a:ext cx="2268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218" name=""/>
          <p:cNvSpPr txBox="1"/>
          <p:nvPr/>
        </p:nvSpPr>
        <p:spPr>
          <a:xfrm>
            <a:off x="6976800" y="285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L/L states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9180000" y="2772000"/>
            <a:ext cx="2268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220" name=""/>
          <p:cNvSpPr txBox="1"/>
          <p:nvPr/>
        </p:nvSpPr>
        <p:spPr>
          <a:xfrm>
            <a:off x="9244800" y="285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T/T states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20000" y="3132000"/>
            <a:ext cx="619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22" name=""/>
          <p:cNvSpPr txBox="1"/>
          <p:nvPr/>
        </p:nvSpPr>
        <p:spPr>
          <a:xfrm>
            <a:off x="784800" y="3211200"/>
            <a:ext cx="606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p003 · Count Downward / irhff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6912000" y="313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24" name=""/>
          <p:cNvSpPr txBox="1"/>
          <p:nvPr/>
        </p:nvSpPr>
        <p:spPr>
          <a:xfrm>
            <a:off x="6976800" y="321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737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9180000" y="313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26" name=""/>
          <p:cNvSpPr txBox="1"/>
          <p:nvPr/>
        </p:nvSpPr>
        <p:spPr>
          <a:xfrm>
            <a:off x="9244800" y="321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286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720000" y="3492000"/>
            <a:ext cx="6192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28" name=""/>
          <p:cNvSpPr txBox="1"/>
          <p:nvPr/>
        </p:nvSpPr>
        <p:spPr>
          <a:xfrm>
            <a:off x="784800" y="3571200"/>
            <a:ext cx="606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p003 · ENHSP / 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912000" y="349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30" name=""/>
          <p:cNvSpPr txBox="1"/>
          <p:nvPr/>
        </p:nvSpPr>
        <p:spPr>
          <a:xfrm>
            <a:off x="6976800" y="357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202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9180000" y="349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32" name=""/>
          <p:cNvSpPr txBox="1"/>
          <p:nvPr/>
        </p:nvSpPr>
        <p:spPr>
          <a:xfrm>
            <a:off x="9244800" y="357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45,992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720000" y="3852000"/>
            <a:ext cx="619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34" name=""/>
          <p:cNvSpPr txBox="1"/>
          <p:nvPr/>
        </p:nvSpPr>
        <p:spPr>
          <a:xfrm>
            <a:off x="784800" y="3931200"/>
            <a:ext cx="606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p003 · NFD / irhadd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6912000" y="385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36" name=""/>
          <p:cNvSpPr txBox="1"/>
          <p:nvPr/>
        </p:nvSpPr>
        <p:spPr>
          <a:xfrm>
            <a:off x="6976800" y="393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217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180000" y="3852000"/>
            <a:ext cx="2268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38" name=""/>
          <p:cNvSpPr txBox="1"/>
          <p:nvPr/>
        </p:nvSpPr>
        <p:spPr>
          <a:xfrm>
            <a:off x="9244800" y="393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32,946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20000" y="4212000"/>
            <a:ext cx="6192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40" name=""/>
          <p:cNvSpPr txBox="1"/>
          <p:nvPr/>
        </p:nvSpPr>
        <p:spPr>
          <a:xfrm>
            <a:off x="784800" y="4291200"/>
            <a:ext cx="606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p004 · Count Downward / irhff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912000" y="421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42" name=""/>
          <p:cNvSpPr txBox="1"/>
          <p:nvPr/>
        </p:nvSpPr>
        <p:spPr>
          <a:xfrm>
            <a:off x="6976800" y="429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131,514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9180000" y="4212000"/>
            <a:ext cx="2268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44" name=""/>
          <p:cNvSpPr txBox="1"/>
          <p:nvPr/>
        </p:nvSpPr>
        <p:spPr>
          <a:xfrm>
            <a:off x="9244800" y="4291200"/>
            <a:ext cx="2138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1,541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720000" y="4716000"/>
            <a:ext cx="1072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64748b"/>
                </a:solidFill>
                <a:latin typeface="Arial"/>
              </a:rPr>
              <a:t>Expanded states. L/L: loose fuel + budget; T/T: tight fuel + budget. Same problem structure within each pair.</a:t>
            </a:r>
            <a:endParaRPr b="0" lang="en-US" sz="13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Discussion informed by our Logistics experiments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248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249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DELAYED CONFLICT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06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20000" y="1404000"/>
            <a:ext cx="10728000" cy="10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A feasible action can lead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to an infeasible future.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20000" y="2772000"/>
            <a:ext cx="5184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253" name=""/>
          <p:cNvSpPr txBox="1"/>
          <p:nvPr/>
        </p:nvSpPr>
        <p:spPr>
          <a:xfrm>
            <a:off x="784800" y="2851200"/>
            <a:ext cx="50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Barman p001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5904000" y="2772000"/>
            <a:ext cx="2772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255" name=""/>
          <p:cNvSpPr txBox="1"/>
          <p:nvPr/>
        </p:nvSpPr>
        <p:spPr>
          <a:xfrm>
            <a:off x="5968800" y="285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Blocked-zero (s)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8676000" y="2772000"/>
            <a:ext cx="2772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257" name=""/>
          <p:cNvSpPr txBox="1"/>
          <p:nvPr/>
        </p:nvSpPr>
        <p:spPr>
          <a:xfrm>
            <a:off x="8740800" y="285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One-short (s)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720000" y="3132000"/>
            <a:ext cx="518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59" name=""/>
          <p:cNvSpPr txBox="1"/>
          <p:nvPr/>
        </p:nvSpPr>
        <p:spPr>
          <a:xfrm>
            <a:off x="784800" y="3211200"/>
            <a:ext cx="50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Metric-FF / numeric-hff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904000" y="3132000"/>
            <a:ext cx="277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1" name=""/>
          <p:cNvSpPr txBox="1"/>
          <p:nvPr/>
        </p:nvSpPr>
        <p:spPr>
          <a:xfrm>
            <a:off x="5968800" y="321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0.20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8676000" y="3132000"/>
            <a:ext cx="277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63" name=""/>
          <p:cNvSpPr txBox="1"/>
          <p:nvPr/>
        </p:nvSpPr>
        <p:spPr>
          <a:xfrm>
            <a:off x="8740800" y="321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1.41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20000" y="3492000"/>
            <a:ext cx="518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65" name=""/>
          <p:cNvSpPr txBox="1"/>
          <p:nvPr/>
        </p:nvSpPr>
        <p:spPr>
          <a:xfrm>
            <a:off x="784800" y="3571200"/>
            <a:ext cx="50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Count Downward / irhff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5904000" y="3492000"/>
            <a:ext cx="2772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67" name=""/>
          <p:cNvSpPr txBox="1"/>
          <p:nvPr/>
        </p:nvSpPr>
        <p:spPr>
          <a:xfrm>
            <a:off x="5968800" y="357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0.20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8676000" y="3492000"/>
            <a:ext cx="2772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69" name=""/>
          <p:cNvSpPr txBox="1"/>
          <p:nvPr/>
        </p:nvSpPr>
        <p:spPr>
          <a:xfrm>
            <a:off x="8740800" y="357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2.61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720000" y="3852000"/>
            <a:ext cx="518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1" name=""/>
          <p:cNvSpPr txBox="1"/>
          <p:nvPr/>
        </p:nvSpPr>
        <p:spPr>
          <a:xfrm>
            <a:off x="784800" y="3931200"/>
            <a:ext cx="50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NFD / irhadd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5904000" y="3852000"/>
            <a:ext cx="277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3" name=""/>
          <p:cNvSpPr txBox="1"/>
          <p:nvPr/>
        </p:nvSpPr>
        <p:spPr>
          <a:xfrm>
            <a:off x="5968800" y="393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1.00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8676000" y="3852000"/>
            <a:ext cx="277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75" name=""/>
          <p:cNvSpPr txBox="1"/>
          <p:nvPr/>
        </p:nvSpPr>
        <p:spPr>
          <a:xfrm>
            <a:off x="8740800" y="393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32.32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720000" y="4212000"/>
            <a:ext cx="518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77" name=""/>
          <p:cNvSpPr txBox="1"/>
          <p:nvPr/>
        </p:nvSpPr>
        <p:spPr>
          <a:xfrm>
            <a:off x="784800" y="4291200"/>
            <a:ext cx="50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ENHSP / 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5904000" y="4212000"/>
            <a:ext cx="2772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79" name=""/>
          <p:cNvSpPr txBox="1"/>
          <p:nvPr/>
        </p:nvSpPr>
        <p:spPr>
          <a:xfrm>
            <a:off x="5968800" y="429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0.40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8676000" y="4212000"/>
            <a:ext cx="2772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281" name=""/>
          <p:cNvSpPr txBox="1"/>
          <p:nvPr/>
        </p:nvSpPr>
        <p:spPr>
          <a:xfrm>
            <a:off x="8740800" y="429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5.62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720000" y="4572000"/>
            <a:ext cx="518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83" name=""/>
          <p:cNvSpPr txBox="1"/>
          <p:nvPr/>
        </p:nvSpPr>
        <p:spPr>
          <a:xfrm>
            <a:off x="784800" y="4651200"/>
            <a:ext cx="505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ENHSP / hradd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5904000" y="4572000"/>
            <a:ext cx="277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85" name=""/>
          <p:cNvSpPr txBox="1"/>
          <p:nvPr/>
        </p:nvSpPr>
        <p:spPr>
          <a:xfrm>
            <a:off x="5968800" y="465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0.40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8676000" y="4572000"/>
            <a:ext cx="2772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287" name=""/>
          <p:cNvSpPr txBox="1"/>
          <p:nvPr/>
        </p:nvSpPr>
        <p:spPr>
          <a:xfrm>
            <a:off x="8740800" y="4651200"/>
            <a:ext cx="2642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5.62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720000" y="5076000"/>
            <a:ext cx="1072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64748b"/>
                </a:solidFill>
                <a:latin typeface="Arial"/>
              </a:rPr>
              <a:t>Wall time to unsolved termination. Both variants unsolvable; deficit magnitude also differs.</a:t>
            </a:r>
            <a:endParaRPr b="0" lang="en-US" sz="13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Discussion informed by our Barman stock experiments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291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292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WORKING HYPOTHESIS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07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20000" y="1404000"/>
            <a:ext cx="10728000" cy="10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Misleading choices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can survive too long.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</p:txBody>
      </p:sp>
      <p:pic>
        <p:nvPicPr>
          <p:cNvPr id="295" name="" descr=""/>
          <p:cNvPicPr/>
          <p:nvPr/>
        </p:nvPicPr>
        <p:blipFill>
          <a:blip r:embed="rId1"/>
          <a:stretch/>
        </p:blipFill>
        <p:spPr>
          <a:xfrm>
            <a:off x="1296000" y="2592000"/>
            <a:ext cx="9252000" cy="2880000"/>
          </a:xfrm>
          <a:prstGeom prst="rect">
            <a:avLst/>
          </a:prstGeom>
          <a:ln w="0">
            <a:noFill/>
          </a:ln>
        </p:spPr>
      </p:pic>
      <p:sp>
        <p:nvSpPr>
          <p:cNvPr id="296" name=""/>
          <p:cNvSpPr txBox="1"/>
          <p:nvPr/>
        </p:nvSpPr>
        <p:spPr>
          <a:xfrm>
            <a:off x="720000" y="5562000"/>
            <a:ext cx="10728000" cy="1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64748b"/>
                </a:solidFill>
                <a:latin typeface="Arial"/>
              </a:rPr>
              <a:t>Synthetic pilot. False-finite labels use an external relaxation, not instrumented Metric-FF values.</a:t>
            </a:r>
            <a:endParaRPr b="0" lang="en-US" sz="13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Hypothesis motivated by synthetic and domain-schema micro experiments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299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300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HEURISTIC DEPENDENCE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08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720000" y="1404000"/>
            <a:ext cx="10728000" cy="109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An extra branch matters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3600" spc="-1" strike="noStrike">
                <a:solidFill>
                  <a:srgbClr val="18324a"/>
                </a:solidFill>
                <a:latin typeface="Arial"/>
              </a:rPr>
              <a:t>only if search follows it.</a:t>
            </a:r>
            <a:endParaRPr b="1" lang="en-US" sz="36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720000" y="2772000"/>
            <a:ext cx="4464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04" name=""/>
          <p:cNvSpPr txBox="1"/>
          <p:nvPr/>
        </p:nvSpPr>
        <p:spPr>
          <a:xfrm>
            <a:off x="784800" y="2851200"/>
            <a:ext cx="433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Planner / heuristic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5184000" y="2772000"/>
            <a:ext cx="2376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06" name=""/>
          <p:cNvSpPr txBox="1"/>
          <p:nvPr/>
        </p:nvSpPr>
        <p:spPr>
          <a:xfrm>
            <a:off x="5248800" y="2851200"/>
            <a:ext cx="224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Watering E/L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7560000" y="2772000"/>
            <a:ext cx="1296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08" name=""/>
          <p:cNvSpPr txBox="1"/>
          <p:nvPr/>
        </p:nvSpPr>
        <p:spPr>
          <a:xfrm>
            <a:off x="7624800" y="285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E/H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8856000" y="2772000"/>
            <a:ext cx="1296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10" name=""/>
          <p:cNvSpPr txBox="1"/>
          <p:nvPr/>
        </p:nvSpPr>
        <p:spPr>
          <a:xfrm>
            <a:off x="8920800" y="285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D/L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0152000" y="2772000"/>
            <a:ext cx="1296000" cy="360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12" name=""/>
          <p:cNvSpPr txBox="1"/>
          <p:nvPr/>
        </p:nvSpPr>
        <p:spPr>
          <a:xfrm>
            <a:off x="10216800" y="285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D/H</a:t>
            </a:r>
            <a:endParaRPr b="1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720000" y="3132000"/>
            <a:ext cx="446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14" name=""/>
          <p:cNvSpPr txBox="1"/>
          <p:nvPr/>
        </p:nvSpPr>
        <p:spPr>
          <a:xfrm>
            <a:off x="784800" y="3211200"/>
            <a:ext cx="433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Metric-FF / numeric-hff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5184000" y="3132000"/>
            <a:ext cx="237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16" name=""/>
          <p:cNvSpPr txBox="1"/>
          <p:nvPr/>
        </p:nvSpPr>
        <p:spPr>
          <a:xfrm>
            <a:off x="5248800" y="3211200"/>
            <a:ext cx="224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24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7560000" y="313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18" name=""/>
          <p:cNvSpPr txBox="1"/>
          <p:nvPr/>
        </p:nvSpPr>
        <p:spPr>
          <a:xfrm>
            <a:off x="7624800" y="321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44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8856000" y="313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20" name=""/>
          <p:cNvSpPr txBox="1"/>
          <p:nvPr/>
        </p:nvSpPr>
        <p:spPr>
          <a:xfrm>
            <a:off x="8920800" y="321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34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10152000" y="313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22" name=""/>
          <p:cNvSpPr txBox="1"/>
          <p:nvPr/>
        </p:nvSpPr>
        <p:spPr>
          <a:xfrm>
            <a:off x="10216800" y="321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64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720000" y="3492000"/>
            <a:ext cx="446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24" name=""/>
          <p:cNvSpPr txBox="1"/>
          <p:nvPr/>
        </p:nvSpPr>
        <p:spPr>
          <a:xfrm>
            <a:off x="784800" y="3571200"/>
            <a:ext cx="433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Count Downward / irhff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5184000" y="3492000"/>
            <a:ext cx="237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26" name=""/>
          <p:cNvSpPr txBox="1"/>
          <p:nvPr/>
        </p:nvSpPr>
        <p:spPr>
          <a:xfrm>
            <a:off x="5248800" y="3571200"/>
            <a:ext cx="224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7560000" y="3492000"/>
            <a:ext cx="129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28" name=""/>
          <p:cNvSpPr txBox="1"/>
          <p:nvPr/>
        </p:nvSpPr>
        <p:spPr>
          <a:xfrm>
            <a:off x="7624800" y="357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8856000" y="3492000"/>
            <a:ext cx="129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30" name=""/>
          <p:cNvSpPr txBox="1"/>
          <p:nvPr/>
        </p:nvSpPr>
        <p:spPr>
          <a:xfrm>
            <a:off x="8920800" y="357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0152000" y="3492000"/>
            <a:ext cx="129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32" name=""/>
          <p:cNvSpPr txBox="1"/>
          <p:nvPr/>
        </p:nvSpPr>
        <p:spPr>
          <a:xfrm>
            <a:off x="10216800" y="357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720000" y="3852000"/>
            <a:ext cx="446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34" name=""/>
          <p:cNvSpPr txBox="1"/>
          <p:nvPr/>
        </p:nvSpPr>
        <p:spPr>
          <a:xfrm>
            <a:off x="784800" y="3931200"/>
            <a:ext cx="433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NFD / irhadd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5184000" y="3852000"/>
            <a:ext cx="237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36" name=""/>
          <p:cNvSpPr txBox="1"/>
          <p:nvPr/>
        </p:nvSpPr>
        <p:spPr>
          <a:xfrm>
            <a:off x="5248800" y="3931200"/>
            <a:ext cx="224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18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7560000" y="385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38" name=""/>
          <p:cNvSpPr txBox="1"/>
          <p:nvPr/>
        </p:nvSpPr>
        <p:spPr>
          <a:xfrm>
            <a:off x="7624800" y="393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64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8856000" y="385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40" name=""/>
          <p:cNvSpPr txBox="1"/>
          <p:nvPr/>
        </p:nvSpPr>
        <p:spPr>
          <a:xfrm>
            <a:off x="8920800" y="393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49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10152000" y="385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42" name=""/>
          <p:cNvSpPr txBox="1"/>
          <p:nvPr/>
        </p:nvSpPr>
        <p:spPr>
          <a:xfrm>
            <a:off x="10216800" y="393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153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720000" y="4212000"/>
            <a:ext cx="4464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44" name=""/>
          <p:cNvSpPr txBox="1"/>
          <p:nvPr/>
        </p:nvSpPr>
        <p:spPr>
          <a:xfrm>
            <a:off x="784800" y="4291200"/>
            <a:ext cx="433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ENHSP / hadd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5184000" y="4212000"/>
            <a:ext cx="237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46" name=""/>
          <p:cNvSpPr txBox="1"/>
          <p:nvPr/>
        </p:nvSpPr>
        <p:spPr>
          <a:xfrm>
            <a:off x="5248800" y="4291200"/>
            <a:ext cx="224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7560000" y="4212000"/>
            <a:ext cx="129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48" name=""/>
          <p:cNvSpPr txBox="1"/>
          <p:nvPr/>
        </p:nvSpPr>
        <p:spPr>
          <a:xfrm>
            <a:off x="7624800" y="429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8856000" y="4212000"/>
            <a:ext cx="129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50" name=""/>
          <p:cNvSpPr txBox="1"/>
          <p:nvPr/>
        </p:nvSpPr>
        <p:spPr>
          <a:xfrm>
            <a:off x="8920800" y="429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10152000" y="4212000"/>
            <a:ext cx="1296000" cy="360000"/>
          </a:xfrm>
          <a:prstGeom prst="rect">
            <a:avLst/>
          </a:prstGeom>
          <a:solidFill>
            <a:srgbClr val="e8edf3"/>
          </a:solidFill>
          <a:ln w="0">
            <a:solidFill>
              <a:srgbClr val="e8edf3"/>
            </a:solidFill>
          </a:ln>
        </p:spPr>
      </p:sp>
      <p:sp>
        <p:nvSpPr>
          <p:cNvPr id="352" name=""/>
          <p:cNvSpPr txBox="1"/>
          <p:nvPr/>
        </p:nvSpPr>
        <p:spPr>
          <a:xfrm>
            <a:off x="10216800" y="429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720000" y="4572000"/>
            <a:ext cx="4464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54" name=""/>
          <p:cNvSpPr txBox="1"/>
          <p:nvPr/>
        </p:nvSpPr>
        <p:spPr>
          <a:xfrm>
            <a:off x="784800" y="4651200"/>
            <a:ext cx="4334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ENHSP / hradd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5184000" y="4572000"/>
            <a:ext cx="237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56" name=""/>
          <p:cNvSpPr txBox="1"/>
          <p:nvPr/>
        </p:nvSpPr>
        <p:spPr>
          <a:xfrm>
            <a:off x="5248800" y="4651200"/>
            <a:ext cx="224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7560000" y="457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58" name=""/>
          <p:cNvSpPr txBox="1"/>
          <p:nvPr/>
        </p:nvSpPr>
        <p:spPr>
          <a:xfrm>
            <a:off x="7624800" y="465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5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8856000" y="457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60" name=""/>
          <p:cNvSpPr txBox="1"/>
          <p:nvPr/>
        </p:nvSpPr>
        <p:spPr>
          <a:xfrm>
            <a:off x="8920800" y="465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10152000" y="4572000"/>
            <a:ext cx="1296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</p:sp>
      <p:sp>
        <p:nvSpPr>
          <p:cNvPr id="362" name=""/>
          <p:cNvSpPr txBox="1"/>
          <p:nvPr/>
        </p:nvSpPr>
        <p:spPr>
          <a:xfrm>
            <a:off x="10216800" y="4651200"/>
            <a:ext cx="1166400" cy="29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2100" spc="-1" strike="noStrike">
                <a:solidFill>
                  <a:srgbClr val="243447"/>
                </a:solidFill>
                <a:latin typeface="Arial"/>
              </a:rPr>
              <a:t>12</a:t>
            </a:r>
            <a:endParaRPr b="0" lang="en-US" sz="21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720000" y="5076000"/>
            <a:ext cx="10728000" cy="2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00" spc="-1" strike="noStrike">
                <a:solidFill>
                  <a:srgbClr val="64748b"/>
                </a:solidFill>
                <a:latin typeface="Arial"/>
              </a:rPr>
              <a:t>E/D: early/deep; L/H: low/high branching. Metric-FF: evaluated; others: expanded. Unsolvable micro tasks.</a:t>
            </a:r>
            <a:endParaRPr b="0" lang="en-US" sz="13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Discussion informed by our Watering and Logistics micro experiments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66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367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8adbd2"/>
                </a:solidFill>
                <a:latin typeface="Arial"/>
              </a:rPr>
              <a:t>RESEARCH PROBLEM</a:t>
            </a:r>
            <a:endParaRPr b="1" lang="en-US" sz="1500" spc="-1" strike="noStrike">
              <a:solidFill>
                <a:srgbClr val="8adbd2"/>
              </a:solidFill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bbc9d5"/>
                </a:solidFill>
                <a:latin typeface="Arial"/>
              </a:rPr>
              <a:t>09</a:t>
            </a:r>
            <a:endParaRPr b="0" lang="en-US" sz="1200" spc="-1" strike="noStrike">
              <a:solidFill>
                <a:srgbClr val="bbc9d5"/>
              </a:solidFill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Bring future resource conflicts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into current search guidance.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bdd0df"/>
                </a:solidFill>
                <a:latin typeface="Arial"/>
              </a:rPr>
              <a:t>The signal must be useful enough—and cheap enough.</a:t>
            </a:r>
            <a:endParaRPr b="0" lang="en-US" sz="2700" spc="-1" strike="noStrike">
              <a:solidFill>
                <a:srgbClr val="bdd0d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372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373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EXISTING NUMERIC REASONING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10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Richer numeric reasoning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already exists.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64748b"/>
                </a:solidFill>
                <a:latin typeface="Arial"/>
              </a:rPr>
              <a:t>The question is when its extra computation pays off.</a:t>
            </a:r>
            <a:endParaRPr b="0" lang="en-US" sz="27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[2] LP–RPG · [3] Subgoaling · [4] Intervals · [5] LM-cut · [6] CEGAR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379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380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RELATED WORK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11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Selective evaluation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already has a foundation.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64748b"/>
                </a:solidFill>
                <a:latin typeface="Arial"/>
              </a:rPr>
              <a:t>Our candidate signal: where numeric relaxation may mislead.</a:t>
            </a:r>
            <a:endParaRPr b="0" lang="en-US" sz="27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[7] Selective Max · [8] Dynamic heuristic selection · [9] Numeric multi-queue search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386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387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8adbd2"/>
                </a:solidFill>
                <a:latin typeface="Arial"/>
              </a:rPr>
              <a:t>METHOD CANDIDATE · NOT FIXED</a:t>
            </a:r>
            <a:endParaRPr b="1" lang="en-US" sz="1500" spc="-1" strike="noStrike">
              <a:solidFill>
                <a:srgbClr val="8adbd2"/>
              </a:solidFill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bbc9d5"/>
                </a:solidFill>
                <a:latin typeface="Arial"/>
              </a:rPr>
              <a:t>12</a:t>
            </a:r>
            <a:endParaRPr b="0" lang="en-US" sz="1200" spc="-1" strike="noStrike">
              <a:solidFill>
                <a:srgbClr val="bbc9d5"/>
              </a:solidFill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Use a cheap signal to allocate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additional reasoning.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bdd0df"/>
                </a:solidFill>
                <a:latin typeface="Arial"/>
              </a:rPr>
              <a:t>Conflict signal  →  Selective evaluation  →  Search guidance</a:t>
            </a:r>
            <a:endParaRPr b="0" lang="en-US" sz="2700" spc="-1" strike="noStrike">
              <a:solidFill>
                <a:srgbClr val="bdd0df"/>
              </a:solidFill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bdd0df"/>
                </a:solidFill>
                <a:latin typeface="Arial"/>
              </a:rPr>
              <a:t>Potential-based signals and semantic priors remain candidate designs.</a:t>
            </a:r>
            <a:endParaRPr b="0" lang="en-US" sz="1200" spc="-1" strike="noStrike">
              <a:solidFill>
                <a:srgbClr val="bdd0d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393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394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NEXT QUESTION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13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Where does additional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18324a"/>
                </a:solidFill>
                <a:latin typeface="Arial"/>
              </a:rPr>
              <a:t>reasoning actually help?</a:t>
            </a:r>
            <a:endParaRPr b="1" lang="en-US" sz="4400" spc="-1" strike="noStrike">
              <a:solidFill>
                <a:srgbClr val="18324a"/>
              </a:solidFill>
              <a:latin typeface="Arial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64748b"/>
                </a:solidFill>
                <a:latin typeface="Arial"/>
              </a:rPr>
              <a:t>Compare heuristic decisions on the same states.</a:t>
            </a:r>
            <a:endParaRPr b="0" lang="en-US" sz="27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720000" y="6012000"/>
            <a:ext cx="10296000" cy="2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Next step: state-level solvability, heuristic values and evaluation cost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8324a"/>
          </a:solidFill>
          <a:ln w="0">
            <a:solidFill>
              <a:srgbClr val="18324a"/>
            </a:solidFill>
          </a:ln>
        </p:spPr>
      </p:sp>
      <p:sp>
        <p:nvSpPr>
          <p:cNvPr id="400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401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8adbd2"/>
                </a:solidFill>
                <a:latin typeface="Arial"/>
              </a:rPr>
              <a:t>DISCUSSION</a:t>
            </a:r>
            <a:endParaRPr b="1" lang="en-US" sz="1500" spc="-1" strike="noStrike">
              <a:solidFill>
                <a:srgbClr val="8adbd2"/>
              </a:solidFill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bbc9d5"/>
                </a:solidFill>
                <a:latin typeface="Arial"/>
              </a:rPr>
              <a:t>14</a:t>
            </a:r>
            <a:endParaRPr b="0" lang="en-US" sz="1200" spc="-1" strike="noStrike">
              <a:solidFill>
                <a:srgbClr val="bbc9d5"/>
              </a:solidFill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720000" y="1800000"/>
            <a:ext cx="10728000" cy="196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Can we predict misleading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  <a:p>
            <a:r>
              <a:rPr b="1" lang="en-US" sz="4400" spc="-1" strike="noStrike">
                <a:solidFill>
                  <a:srgbClr val="ffffff"/>
                </a:solidFill>
                <a:latin typeface="Arial"/>
              </a:rPr>
              <a:t>guidance before the conflict?</a:t>
            </a:r>
            <a:endParaRPr b="1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720000" y="4320000"/>
            <a:ext cx="10728000" cy="77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700" spc="-1" strike="noStrike">
                <a:solidFill>
                  <a:srgbClr val="bdd0df"/>
                </a:solidFill>
                <a:latin typeface="Arial"/>
              </a:rPr>
              <a:t>Can that prediction save more time than it costs?</a:t>
            </a:r>
            <a:endParaRPr b="0" lang="en-US" sz="2700" spc="-1" strike="noStrike">
              <a:solidFill>
                <a:srgbClr val="bdd0d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7f8fc"/>
          </a:solidFill>
          <a:ln w="0">
            <a:solidFill>
              <a:srgbClr val="f7f8fc"/>
            </a:solidFill>
          </a:ln>
        </p:spPr>
      </p:sp>
      <p:sp>
        <p:nvSpPr>
          <p:cNvPr id="406" name=""/>
          <p:cNvSpPr/>
          <p:nvPr/>
        </p:nvSpPr>
        <p:spPr>
          <a:xfrm>
            <a:off x="720000" y="702000"/>
            <a:ext cx="468000" cy="50400"/>
          </a:xfrm>
          <a:prstGeom prst="rect">
            <a:avLst/>
          </a:prstGeom>
          <a:solidFill>
            <a:srgbClr val="0f9d92"/>
          </a:solidFill>
          <a:ln w="0">
            <a:solidFill>
              <a:srgbClr val="0f9d92"/>
            </a:solidFill>
          </a:ln>
        </p:spPr>
      </p:sp>
      <p:sp>
        <p:nvSpPr>
          <p:cNvPr id="407" name=""/>
          <p:cNvSpPr txBox="1"/>
          <p:nvPr/>
        </p:nvSpPr>
        <p:spPr>
          <a:xfrm>
            <a:off x="720000" y="918000"/>
            <a:ext cx="10692000" cy="21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0f9d92"/>
                </a:solidFill>
                <a:latin typeface="Arial"/>
              </a:rPr>
              <a:t>REFERENCES</a:t>
            </a:r>
            <a:endParaRPr b="1" lang="en-US" sz="1500" spc="-1" strike="noStrike">
              <a:solidFill>
                <a:srgbClr val="0f9d92"/>
              </a:solidFill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1052000" y="6354000"/>
            <a:ext cx="396000" cy="17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200" spc="-1" strike="noStrike">
                <a:solidFill>
                  <a:srgbClr val="64748b"/>
                </a:solidFill>
                <a:latin typeface="Arial"/>
              </a:rPr>
              <a:t>15</a:t>
            </a:r>
            <a:endParaRPr b="0" lang="en-US" sz="1200" spc="-1" strike="noStrike">
              <a:solidFill>
                <a:srgbClr val="64748b"/>
              </a:solidFill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720000" y="1530000"/>
            <a:ext cx="10728000" cy="3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[1] J. Hoffmann (2003). The Metric-FF Planning System: Translating ‘Ignoring Delete Lists’ to Numeric State Variables. JAIR 20, 291–341.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720000" y="2008800"/>
            <a:ext cx="10728000" cy="3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[2] A. I. Coles, M. Fox, D. Long &amp; A. Smith (2008). A Hybrid Relaxed Planning Graph–LP Heuristic for Numeric Planning Domains. ICAPS.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720000" y="2487600"/>
            <a:ext cx="10728000" cy="3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[3] E. Scala, P. Haslum &amp; S. Thiébaux (2016). Heuristics for Numeric Planning via Subgoaling. IJCAI, 3228–3234.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720000" y="2966400"/>
            <a:ext cx="10728000" cy="3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[4] E. Scala, P. Haslum, S. Thiébaux &amp; M. Ramírez (2016). Interval-Based Relaxation for General Numeric Planning. ECAI.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720000" y="3445200"/>
            <a:ext cx="10728000" cy="3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[5] R. Kuroiwa, A. Shleyfman, C. Piacentini, M. P. Castro &amp; J. C. Beck (2021). LM-cut and Operator Counting Heuristics for Optimal Numeric Planning with Simple Conditions. ICAPS 31, 210–218.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720000" y="3924000"/>
            <a:ext cx="10728000" cy="3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[6] T. Schindler, D. Speck &amp; M. Helmert (2026). Cartesian Abstraction Refinement for Simple Numeric Planning. ICAPS 36, 420–424.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720000" y="4402800"/>
            <a:ext cx="10728000" cy="3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[7] C. Domshlak, E. Karpas &amp; S. Markovitch (2010). To Max or Not to Max: Online Learning for Speeding Up Optimal Planning. AAAI.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720000" y="4881600"/>
            <a:ext cx="10728000" cy="37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[8] D. Speck, A. Biedenkapp, F. Hutter, R. Mattmüller &amp; M. Lindauer (2021). Learning Heuristic Selection with Dynamic Algorithm Configuration. ICAPS.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720000" y="5360400"/>
            <a:ext cx="10728000" cy="37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5000"/>
              </a:lnSpc>
              <a:buNone/>
            </a:pPr>
            <a:r>
              <a:rPr b="0" lang="en-US" sz="1400" spc="-1" strike="noStrike">
                <a:solidFill>
                  <a:srgbClr val="243447"/>
                </a:solidFill>
                <a:latin typeface="Arial"/>
              </a:rPr>
              <a:t>[9] D. Z. Chen &amp; S. Thiébaux (2024). Novelty Heuristics, Multi-Queue Search, and Portfolios for Numeric Planning. SoCS 17.</a:t>
            </a:r>
            <a:endParaRPr b="0" lang="en-US" sz="1400" spc="-1" strike="noStrike">
              <a:solidFill>
                <a:srgbClr val="243447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2026-09-21T09:03:51Z</dcterms:created>
  <dc:creator/>
  <dc:description/>
  <dc:language>en-US</dc:language>
  <cp:lastModifiedBy/>
  <dcterms:modified xsi:type="dcterms:W3CDTF">2026-09-21T09:03:53Z</dcterms:modified>
  <cp:revision>1</cp:revision>
  <dc:subject/>
  <dc:title/>
</cp:coreProperties>
</file>